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59" r:id="rId2"/>
    <p:sldMasterId id="2147483664" r:id="rId3"/>
    <p:sldMasterId id="2147483667" r:id="rId4"/>
    <p:sldMasterId id="2147483670" r:id="rId5"/>
    <p:sldMasterId id="2147483675" r:id="rId6"/>
  </p:sldMasterIdLst>
  <p:notesMasterIdLst>
    <p:notesMasterId r:id="rId14"/>
  </p:notesMasterIdLst>
  <p:sldIdLst>
    <p:sldId id="290" r:id="rId7"/>
    <p:sldId id="311" r:id="rId8"/>
    <p:sldId id="306" r:id="rId9"/>
    <p:sldId id="307" r:id="rId10"/>
    <p:sldId id="309" r:id="rId11"/>
    <p:sldId id="308" r:id="rId12"/>
    <p:sldId id="310" r:id="rId1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9" autoAdjust="0"/>
    <p:restoredTop sz="80658" autoAdjust="0"/>
  </p:normalViewPr>
  <p:slideViewPr>
    <p:cSldViewPr snapToGrid="0">
      <p:cViewPr varScale="1">
        <p:scale>
          <a:sx n="102" d="100"/>
          <a:sy n="102" d="100"/>
        </p:scale>
        <p:origin x="94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406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E1385-F260-4333-AE8C-8FE78A9A5439}" type="datetimeFigureOut">
              <a:rPr lang="da-DK" smtClean="0"/>
              <a:t>07-07-2026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56DD6-C9C6-449F-82B4-421C84CC6D8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968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i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781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da-DK" dirty="0"/>
              <a:t>Skole: Elever, Lærere, Klasser, Regler, Skemaer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/>
              <a:t>Alle delene hænger sammen og påvirker hinanden. Hvis en del ændrer sig (eks lærerne strejker) påvirkes hele systemet. </a:t>
            </a:r>
          </a:p>
          <a:p>
            <a:pPr>
              <a:buFont typeface="Arial" panose="020B0604020202020204" pitchFamily="34" charset="0"/>
              <a:buNone/>
            </a:pPr>
            <a:r>
              <a:rPr lang="da-DK" dirty="0"/>
              <a:t>Skov: Træer, dyr, jorden, vand, klima </a:t>
            </a:r>
            <a:r>
              <a:rPr lang="da-DK" dirty="0">
                <a:sym typeface="Wingdings" panose="05000000000000000000" pitchFamily="2" charset="2"/>
              </a:rPr>
              <a:t> Hvis man fælder mange træer påvirker det: dårligere miljø for dyrene (mindre mad), mere CO2 i luften (klimaforandringerne), skoven som legeplads for børnene</a:t>
            </a:r>
            <a:endParaRPr lang="da-DK" dirty="0"/>
          </a:p>
          <a:p>
            <a:pPr>
              <a:buFont typeface="Arial" panose="020B0604020202020204" pitchFamily="34" charset="0"/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273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da-DK" dirty="0"/>
              <a:t>Fodbold:; Alt dette bestemmer:</a:t>
            </a:r>
          </a:p>
          <a:p>
            <a:pPr>
              <a:buFont typeface="Arial" panose="020B0604020202020204" pitchFamily="34" charset="0"/>
              <a:buNone/>
            </a:pPr>
            <a:r>
              <a:rPr lang="da-DK" dirty="0"/>
              <a:t>Hvordan man spiller</a:t>
            </a:r>
          </a:p>
          <a:p>
            <a:pPr>
              <a:buFont typeface="Arial" panose="020B0604020202020204" pitchFamily="34" charset="0"/>
              <a:buNone/>
            </a:pPr>
            <a:r>
              <a:rPr lang="da-DK" dirty="0"/>
              <a:t>Hvilke valg man tager </a:t>
            </a:r>
          </a:p>
          <a:p>
            <a:pPr>
              <a:buFont typeface="Arial" panose="020B0604020202020204" pitchFamily="34" charset="0"/>
              <a:buNone/>
            </a:pPr>
            <a:r>
              <a:rPr lang="da-DK" dirty="0"/>
              <a:t>Hvorvidt det er svært eller let den dag.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194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3772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dirty="0"/>
              <a:t>En fremtidsorienteret workshop om systemer, forstyrrelser og handlinger.</a:t>
            </a:r>
          </a:p>
          <a:p>
            <a:endParaRPr lang="da-DK" i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411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i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756DD6-C9C6-449F-82B4-421C84CC6D81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608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1" y="1566509"/>
            <a:ext cx="10972801" cy="42627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800"/>
              </a:spcAft>
              <a:buClrTx/>
              <a:buFont typeface="Arial" panose="020B0604020202020204" pitchFamily="34" charset="0"/>
              <a:buNone/>
              <a:defRPr sz="1867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3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14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5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874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40B81822-3D96-4344-807F-41D29B6F9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1566508"/>
            <a:ext cx="5291859" cy="45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800"/>
              </a:spcAft>
              <a:buNone/>
              <a:defRPr sz="1867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noProof="0" dirty="0"/>
          </a:p>
        </p:txBody>
      </p:sp>
      <p:sp>
        <p:nvSpPr>
          <p:cNvPr id="9" name="Pladsholder til tekst 5">
            <a:extLst>
              <a:ext uri="{FF2B5EF4-FFF2-40B4-BE49-F238E27FC236}">
                <a16:creationId xmlns:a16="http://schemas.microsoft.com/office/drawing/2014/main" id="{40B81822-3D96-4344-807F-41D29B6F97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3545" y="1566508"/>
            <a:ext cx="5298857" cy="45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800"/>
              </a:spcAft>
              <a:buNone/>
              <a:defRPr sz="1867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noProof="0" dirty="0"/>
          </a:p>
        </p:txBody>
      </p:sp>
      <p:sp>
        <p:nvSpPr>
          <p:cNvPr id="14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7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/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951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40B81822-3D96-4344-807F-41D29B6F97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508"/>
            <a:ext cx="3278155" cy="45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800"/>
              </a:spcAft>
              <a:buNone/>
              <a:defRPr sz="1867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noProof="0" dirty="0"/>
          </a:p>
        </p:txBody>
      </p:sp>
      <p:sp>
        <p:nvSpPr>
          <p:cNvPr id="9" name="Pladsholder til tekst 5">
            <a:extLst>
              <a:ext uri="{FF2B5EF4-FFF2-40B4-BE49-F238E27FC236}">
                <a16:creationId xmlns:a16="http://schemas.microsoft.com/office/drawing/2014/main" id="{40B81822-3D96-4344-807F-41D29B6F97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14065" y="1566508"/>
            <a:ext cx="3278400" cy="45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800"/>
              </a:spcAft>
              <a:buNone/>
              <a:defRPr sz="1867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noProof="0" dirty="0"/>
          </a:p>
        </p:txBody>
      </p:sp>
      <p:sp>
        <p:nvSpPr>
          <p:cNvPr id="11" name="Pladsholder til tekst 5">
            <a:extLst>
              <a:ext uri="{FF2B5EF4-FFF2-40B4-BE49-F238E27FC236}">
                <a16:creationId xmlns:a16="http://schemas.microsoft.com/office/drawing/2014/main" id="{40B81822-3D96-4344-807F-41D29B6F979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66452" y="1566508"/>
            <a:ext cx="3278400" cy="45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800"/>
              </a:spcAft>
              <a:buNone/>
              <a:defRPr sz="1867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US" noProof="0" dirty="0"/>
          </a:p>
        </p:txBody>
      </p:sp>
      <p:sp>
        <p:nvSpPr>
          <p:cNvPr id="14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9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20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/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467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15" name="Pladsholder til tabel 2"/>
          <p:cNvSpPr>
            <a:spLocks noGrp="1"/>
          </p:cNvSpPr>
          <p:nvPr>
            <p:ph type="tbl" sz="quarter" idx="15" hasCustomPrompt="1"/>
          </p:nvPr>
        </p:nvSpPr>
        <p:spPr>
          <a:xfrm>
            <a:off x="609601" y="1575203"/>
            <a:ext cx="10972800" cy="44460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 baseline="0"/>
            </a:lvl1pPr>
          </a:lstStyle>
          <a:p>
            <a:r>
              <a:rPr lang="en-US" noProof="0" dirty="0"/>
              <a:t>Insert table</a:t>
            </a:r>
          </a:p>
        </p:txBody>
      </p:sp>
      <p:sp>
        <p:nvSpPr>
          <p:cNvPr id="12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/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92" y="6444508"/>
            <a:ext cx="814053" cy="288000"/>
          </a:xfrm>
          <a:prstGeom prst="rect">
            <a:avLst/>
          </a:prstGeom>
        </p:spPr>
      </p:pic>
      <p:sp>
        <p:nvSpPr>
          <p:cNvPr id="23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24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0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13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6948803" y="356659"/>
            <a:ext cx="4633599" cy="57169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/>
            </a:lvl1pPr>
          </a:lstStyle>
          <a:p>
            <a:r>
              <a:rPr lang="en-US" noProof="0" dirty="0"/>
              <a:t>Insert picture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1561573"/>
            <a:ext cx="6038824" cy="451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867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4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6038824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 sz="4800"/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25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26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6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pic>
        <p:nvPicPr>
          <p:cNvPr id="13" name="Billed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6864088" y="0"/>
            <a:ext cx="5327913" cy="685800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28" name="Pladsholder til indhold 27"/>
          <p:cNvSpPr>
            <a:spLocks noGrp="1"/>
          </p:cNvSpPr>
          <p:nvPr>
            <p:ph sz="quarter" idx="16" hasCustomPrompt="1"/>
          </p:nvPr>
        </p:nvSpPr>
        <p:spPr>
          <a:xfrm>
            <a:off x="7150558" y="768040"/>
            <a:ext cx="4802092" cy="5305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Insert picture, table, graph, etc.</a:t>
            </a:r>
          </a:p>
        </p:txBody>
      </p:sp>
      <p:sp>
        <p:nvSpPr>
          <p:cNvPr id="11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1561573"/>
            <a:ext cx="6038824" cy="451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867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2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6038824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 sz="4800"/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20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21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697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  <p:sp>
        <p:nvSpPr>
          <p:cNvPr id="4" name="Pladsholder til billede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/>
            </a:lvl1pPr>
          </a:lstStyle>
          <a:p>
            <a:r>
              <a:rPr lang="en-US" noProof="0" dirty="0"/>
              <a:t>Insert picture</a:t>
            </a:r>
          </a:p>
        </p:txBody>
      </p:sp>
      <p:pic>
        <p:nvPicPr>
          <p:cNvPr id="3" name="Billed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5725" y="264223"/>
            <a:ext cx="1296000" cy="486936"/>
          </a:xfrm>
          <a:prstGeom prst="rect">
            <a:avLst/>
          </a:prstGeom>
        </p:spPr>
      </p:pic>
      <p:sp>
        <p:nvSpPr>
          <p:cNvPr id="7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48375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8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91005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5700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 box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pic>
        <p:nvPicPr>
          <p:cNvPr id="17" name="Billed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  <p:sp>
        <p:nvSpPr>
          <p:cNvPr id="24" name="Rektangel 23"/>
          <p:cNvSpPr/>
          <p:nvPr userDrawn="1"/>
        </p:nvSpPr>
        <p:spPr>
          <a:xfrm>
            <a:off x="1295467" y="1888467"/>
            <a:ext cx="2880000" cy="384000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en-US" sz="2400" noProof="0" dirty="0"/>
          </a:p>
        </p:txBody>
      </p:sp>
      <p:sp>
        <p:nvSpPr>
          <p:cNvPr id="2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4389" y="1888467"/>
            <a:ext cx="288107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2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94389" y="2820479"/>
            <a:ext cx="288107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endParaRPr lang="en-US" noProof="0" dirty="0"/>
          </a:p>
        </p:txBody>
      </p:sp>
      <p:sp>
        <p:nvSpPr>
          <p:cNvPr id="19" name="Rektangel 18"/>
          <p:cNvSpPr/>
          <p:nvPr userDrawn="1"/>
        </p:nvSpPr>
        <p:spPr>
          <a:xfrm>
            <a:off x="8017748" y="1882893"/>
            <a:ext cx="2880000" cy="3840000"/>
          </a:xfrm>
          <a:prstGeom prst="rect">
            <a:avLst/>
          </a:prstGeom>
          <a:solidFill>
            <a:srgbClr val="0C2D8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l"/>
            <a:endParaRPr lang="da-DK" sz="2400" dirty="0"/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16670" y="1882894"/>
            <a:ext cx="288107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21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16670" y="2814906"/>
            <a:ext cx="288107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r>
              <a:rPr lang="en-US" noProof="0" dirty="0"/>
              <a:t> </a:t>
            </a:r>
          </a:p>
        </p:txBody>
      </p:sp>
      <p:sp>
        <p:nvSpPr>
          <p:cNvPr id="35" name="Rektangel 34"/>
          <p:cNvSpPr/>
          <p:nvPr userDrawn="1"/>
        </p:nvSpPr>
        <p:spPr>
          <a:xfrm>
            <a:off x="4657147" y="1882893"/>
            <a:ext cx="2880000" cy="3840000"/>
          </a:xfrm>
          <a:prstGeom prst="rect">
            <a:avLst/>
          </a:prstGeom>
          <a:solidFill>
            <a:srgbClr val="0C2D8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da-DK" sz="2400" dirty="0"/>
          </a:p>
        </p:txBody>
      </p:sp>
      <p:sp>
        <p:nvSpPr>
          <p:cNvPr id="3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56069" y="1882894"/>
            <a:ext cx="288107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56069" y="2814906"/>
            <a:ext cx="288107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r>
              <a:rPr lang="en-US" noProof="0" dirty="0"/>
              <a:t> </a:t>
            </a:r>
          </a:p>
        </p:txBody>
      </p:sp>
      <p:sp>
        <p:nvSpPr>
          <p:cNvPr id="28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1294388" y="274639"/>
            <a:ext cx="960336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 algn="l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33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34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217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 box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ktangel 18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pic>
        <p:nvPicPr>
          <p:cNvPr id="20" name="Billed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  <p:sp>
        <p:nvSpPr>
          <p:cNvPr id="17" name="Rektangel 16"/>
          <p:cNvSpPr/>
          <p:nvPr userDrawn="1"/>
        </p:nvSpPr>
        <p:spPr>
          <a:xfrm>
            <a:off x="3316597" y="1890851"/>
            <a:ext cx="2640000" cy="3840000"/>
          </a:xfrm>
          <a:prstGeom prst="rect">
            <a:avLst/>
          </a:prstGeom>
          <a:solidFill>
            <a:srgbClr val="0C2D83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da-DK" sz="2400" dirty="0"/>
          </a:p>
        </p:txBody>
      </p:sp>
      <p:sp>
        <p:nvSpPr>
          <p:cNvPr id="2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5520" y="1890851"/>
            <a:ext cx="263832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23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15520" y="2822863"/>
            <a:ext cx="263832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endParaRPr lang="en-US" noProof="0" dirty="0"/>
          </a:p>
        </p:txBody>
      </p:sp>
      <p:sp>
        <p:nvSpPr>
          <p:cNvPr id="24" name="Rektangel 23"/>
          <p:cNvSpPr/>
          <p:nvPr userDrawn="1"/>
        </p:nvSpPr>
        <p:spPr>
          <a:xfrm>
            <a:off x="433528" y="1890851"/>
            <a:ext cx="2640000" cy="384000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en-US" sz="2400" noProof="0" dirty="0"/>
          </a:p>
        </p:txBody>
      </p:sp>
      <p:sp>
        <p:nvSpPr>
          <p:cNvPr id="2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2450" y="1890851"/>
            <a:ext cx="263832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2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450" y="2822863"/>
            <a:ext cx="263832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endParaRPr lang="en-US" noProof="0" dirty="0"/>
          </a:p>
        </p:txBody>
      </p:sp>
      <p:sp>
        <p:nvSpPr>
          <p:cNvPr id="27" name="Rektangel 26"/>
          <p:cNvSpPr/>
          <p:nvPr userDrawn="1"/>
        </p:nvSpPr>
        <p:spPr>
          <a:xfrm>
            <a:off x="6192011" y="1895164"/>
            <a:ext cx="2640000" cy="3840000"/>
          </a:xfrm>
          <a:prstGeom prst="rect">
            <a:avLst/>
          </a:prstGeom>
          <a:solidFill>
            <a:srgbClr val="0C2D83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da-DK" sz="2400" dirty="0"/>
          </a:p>
        </p:txBody>
      </p:sp>
      <p:sp>
        <p:nvSpPr>
          <p:cNvPr id="28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90933" y="1895164"/>
            <a:ext cx="263832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0933" y="2827176"/>
            <a:ext cx="263832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endParaRPr lang="en-US" noProof="0" dirty="0"/>
          </a:p>
        </p:txBody>
      </p:sp>
      <p:sp>
        <p:nvSpPr>
          <p:cNvPr id="32" name="Rektangel 31"/>
          <p:cNvSpPr/>
          <p:nvPr userDrawn="1"/>
        </p:nvSpPr>
        <p:spPr>
          <a:xfrm>
            <a:off x="9072331" y="1890851"/>
            <a:ext cx="2640000" cy="3840000"/>
          </a:xfrm>
          <a:prstGeom prst="rect">
            <a:avLst/>
          </a:prstGeom>
          <a:solidFill>
            <a:srgbClr val="0C2D83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96000" rtlCol="0" anchor="ctr"/>
          <a:lstStyle/>
          <a:p>
            <a:pPr algn="ctr"/>
            <a:endParaRPr lang="en-US" sz="2400" noProof="0" dirty="0"/>
          </a:p>
        </p:txBody>
      </p:sp>
      <p:sp>
        <p:nvSpPr>
          <p:cNvPr id="33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1253" y="1890851"/>
            <a:ext cx="2638329" cy="7963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FF0000"/>
              </a:buClr>
              <a:buFontTx/>
              <a:buNone/>
              <a:defRPr sz="2133" cap="all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4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1253" y="2822863"/>
            <a:ext cx="2638329" cy="28821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Tekst</a:t>
            </a:r>
            <a:r>
              <a:rPr lang="en-US" noProof="0" dirty="0"/>
              <a:t> </a:t>
            </a:r>
          </a:p>
        </p:txBody>
      </p:sp>
      <p:sp>
        <p:nvSpPr>
          <p:cNvPr id="38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432449" y="274639"/>
            <a:ext cx="11277132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 algn="l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 err="1"/>
              <a:t>Titel</a:t>
            </a:r>
            <a:endParaRPr lang="en-US" noProof="0" dirty="0"/>
          </a:p>
        </p:txBody>
      </p:sp>
      <p:sp>
        <p:nvSpPr>
          <p:cNvPr id="40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41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1174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 cirl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15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2" name="Ellipse 1"/>
          <p:cNvSpPr/>
          <p:nvPr userDrawn="1"/>
        </p:nvSpPr>
        <p:spPr>
          <a:xfrm>
            <a:off x="4774921" y="1700808"/>
            <a:ext cx="2640000" cy="2640000"/>
          </a:xfrm>
          <a:prstGeom prst="ellipse">
            <a:avLst/>
          </a:prstGeom>
          <a:solidFill>
            <a:srgbClr val="0C2D8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20" name="Ellipse 19"/>
          <p:cNvSpPr/>
          <p:nvPr userDrawn="1"/>
        </p:nvSpPr>
        <p:spPr>
          <a:xfrm>
            <a:off x="1030225" y="1679735"/>
            <a:ext cx="2640000" cy="2640000"/>
          </a:xfrm>
          <a:prstGeom prst="ellipse">
            <a:avLst/>
          </a:prstGeom>
          <a:solidFill>
            <a:srgbClr val="0C2D8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21" name="Ellipse 20"/>
          <p:cNvSpPr/>
          <p:nvPr userDrawn="1"/>
        </p:nvSpPr>
        <p:spPr>
          <a:xfrm>
            <a:off x="8519617" y="1700808"/>
            <a:ext cx="2640000" cy="2640000"/>
          </a:xfrm>
          <a:prstGeom prst="ellipse">
            <a:avLst/>
          </a:prstGeom>
          <a:solidFill>
            <a:srgbClr val="0C2D8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1897" y="2622175"/>
            <a:ext cx="2638329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53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76593" y="2622175"/>
            <a:ext cx="2638329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54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21289" y="2601572"/>
            <a:ext cx="2638329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5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039" y="4503202"/>
            <a:ext cx="3360373" cy="15179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14735" y="4503201"/>
            <a:ext cx="3360373" cy="15179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5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59859" y="4503201"/>
            <a:ext cx="3360373" cy="15179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5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26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28" name="Pladsholder til titel 1"/>
          <p:cNvSpPr>
            <a:spLocks noGrp="1"/>
          </p:cNvSpPr>
          <p:nvPr>
            <p:ph type="title" hasCustomPrompt="1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>
            <a:lvl1pPr>
              <a:defRPr/>
            </a:lvl1pPr>
          </a:lstStyle>
          <a:p>
            <a:r>
              <a:rPr lang="en-US" noProof="0"/>
              <a:t>Kllik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pic>
        <p:nvPicPr>
          <p:cNvPr id="17" name="Billed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7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 cirl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/>
          <p:cNvSpPr/>
          <p:nvPr userDrawn="1"/>
        </p:nvSpPr>
        <p:spPr>
          <a:xfrm>
            <a:off x="3457355" y="1700337"/>
            <a:ext cx="2400000" cy="2400000"/>
          </a:xfrm>
          <a:prstGeom prst="ellipse">
            <a:avLst/>
          </a:prstGeom>
          <a:solidFill>
            <a:srgbClr val="0C2D8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20" name="Ellipse 19"/>
          <p:cNvSpPr/>
          <p:nvPr userDrawn="1"/>
        </p:nvSpPr>
        <p:spPr>
          <a:xfrm>
            <a:off x="623409" y="1700337"/>
            <a:ext cx="2400000" cy="2400000"/>
          </a:xfrm>
          <a:prstGeom prst="ellipse">
            <a:avLst/>
          </a:prstGeom>
          <a:solidFill>
            <a:srgbClr val="0C2D83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21" name="Ellipse 20"/>
          <p:cNvSpPr/>
          <p:nvPr userDrawn="1"/>
        </p:nvSpPr>
        <p:spPr>
          <a:xfrm>
            <a:off x="9120232" y="1700337"/>
            <a:ext cx="2400000" cy="2400000"/>
          </a:xfrm>
          <a:prstGeom prst="ellipse">
            <a:avLst/>
          </a:prstGeom>
          <a:solidFill>
            <a:srgbClr val="0C2D8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52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09" y="2502175"/>
            <a:ext cx="2400001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55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4917" y="4309604"/>
            <a:ext cx="2448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6" name="Ellipse 15"/>
          <p:cNvSpPr/>
          <p:nvPr userDrawn="1"/>
        </p:nvSpPr>
        <p:spPr>
          <a:xfrm>
            <a:off x="6290889" y="1700337"/>
            <a:ext cx="2400000" cy="2400000"/>
          </a:xfrm>
          <a:prstGeom prst="ellipse">
            <a:avLst/>
          </a:prstGeom>
          <a:solidFill>
            <a:srgbClr val="0C2D8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36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57354" y="2502175"/>
            <a:ext cx="2400001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7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6698" y="2502175"/>
            <a:ext cx="2400001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8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20232" y="2504799"/>
            <a:ext cx="2400001" cy="7963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Clr>
                <a:srgbClr val="FF0000"/>
              </a:buClr>
              <a:buFontTx/>
              <a:buNone/>
              <a:defRPr sz="2000" cap="all" baseline="0">
                <a:solidFill>
                  <a:schemeClr val="tx1"/>
                </a:solidFill>
                <a:latin typeface="+mn-lt"/>
                <a:ea typeface="Roboto Condensed" panose="02000000000000000000" pitchFamily="2" charset="0"/>
              </a:defRPr>
            </a:lvl1pPr>
          </a:lstStyle>
          <a:p>
            <a:pPr lvl="0"/>
            <a:r>
              <a:rPr lang="en-US" noProof="0" dirty="0" err="1"/>
              <a:t>fakta</a:t>
            </a:r>
            <a:endParaRPr lang="en-US" noProof="0" dirty="0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433353" y="4309604"/>
            <a:ext cx="2448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0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71789" y="4309604"/>
            <a:ext cx="2448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1" name="Pladsholder til tekst 18">
            <a:extLst>
              <a:ext uri="{FF2B5EF4-FFF2-40B4-BE49-F238E27FC236}">
                <a16:creationId xmlns:a16="http://schemas.microsoft.com/office/drawing/2014/main" id="{C3B5F652-10D8-D046-AFF3-E2A93FEA76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96231" y="4309604"/>
            <a:ext cx="2448000" cy="17281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800"/>
              </a:spcAft>
              <a:buClrTx/>
              <a:buFont typeface="Arial" panose="020B0604020202020204" pitchFamily="34" charset="0"/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28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31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33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19" name="Rektangel 18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pic>
        <p:nvPicPr>
          <p:cNvPr id="22" name="Billede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6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/New section">
    <p:bg>
      <p:bgPr>
        <a:solidFill>
          <a:srgbClr val="0C2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1"/>
          <p:cNvSpPr>
            <a:spLocks noGrp="1"/>
          </p:cNvSpPr>
          <p:nvPr>
            <p:ph type="title"/>
          </p:nvPr>
        </p:nvSpPr>
        <p:spPr>
          <a:xfrm>
            <a:off x="603523" y="2372883"/>
            <a:ext cx="10972800" cy="1143000"/>
          </a:xfrm>
          <a:solidFill>
            <a:srgbClr val="0C2D83"/>
          </a:solidFill>
        </p:spPr>
        <p:txBody>
          <a:bodyPr>
            <a:normAutofit/>
          </a:bodyPr>
          <a:lstStyle>
            <a:lvl1pPr algn="ctr">
              <a:defRPr sz="5333" baseline="0"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28" name="Pladsholder til tekst 9"/>
          <p:cNvSpPr>
            <a:spLocks noGrp="1"/>
          </p:cNvSpPr>
          <p:nvPr>
            <p:ph type="body" sz="quarter" idx="12"/>
          </p:nvPr>
        </p:nvSpPr>
        <p:spPr>
          <a:xfrm>
            <a:off x="2249231" y="4005064"/>
            <a:ext cx="7681384" cy="1439333"/>
          </a:xfrm>
          <a:solidFill>
            <a:srgbClr val="0C2D83"/>
          </a:solidFill>
        </p:spPr>
        <p:txBody>
          <a:bodyPr>
            <a:normAutofit/>
          </a:bodyPr>
          <a:lstStyle>
            <a:lvl1pPr marL="0" indent="0" algn="ctr">
              <a:buNone/>
              <a:defRPr sz="2133" baseline="0">
                <a:solidFill>
                  <a:schemeClr val="bg1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9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0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13413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0C2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lipse 10">
            <a:extLst>
              <a:ext uri="{FF2B5EF4-FFF2-40B4-BE49-F238E27FC236}">
                <a16:creationId xmlns:a16="http://schemas.microsoft.com/office/drawing/2014/main" id="{652CD27C-57F8-429D-8632-BCDC4141C3D4}"/>
              </a:ext>
            </a:extLst>
          </p:cNvPr>
          <p:cNvSpPr/>
          <p:nvPr userDrawn="1"/>
        </p:nvSpPr>
        <p:spPr>
          <a:xfrm>
            <a:off x="677352" y="968496"/>
            <a:ext cx="1440000" cy="1440000"/>
          </a:xfrm>
          <a:prstGeom prst="ellipse">
            <a:avLst/>
          </a:prstGeom>
          <a:solidFill>
            <a:srgbClr val="AED9D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267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7E4BA06-846D-4881-B313-2250960AD92D}"/>
              </a:ext>
            </a:extLst>
          </p:cNvPr>
          <p:cNvSpPr/>
          <p:nvPr userDrawn="1"/>
        </p:nvSpPr>
        <p:spPr>
          <a:xfrm>
            <a:off x="590517" y="1988839"/>
            <a:ext cx="576000" cy="576000"/>
          </a:xfrm>
          <a:prstGeom prst="ellipse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 dirty="0"/>
          </a:p>
        </p:txBody>
      </p:sp>
      <p:sp>
        <p:nvSpPr>
          <p:cNvPr id="8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1938256" y="1988839"/>
            <a:ext cx="8478224" cy="2976332"/>
          </a:xfrm>
          <a:noFill/>
        </p:spPr>
        <p:txBody>
          <a:bodyPr anchor="t">
            <a:normAutofit/>
          </a:bodyPr>
          <a:lstStyle>
            <a:lvl1pPr marL="0" indent="0" algn="just">
              <a:buNone/>
              <a:defRPr sz="2667" i="0" baseline="0">
                <a:solidFill>
                  <a:schemeClr val="bg1"/>
                </a:solidFill>
                <a:latin typeface="+mn-lt"/>
                <a:ea typeface="Roboto Condensed Light" panose="02000000000000000000" pitchFamily="2" charset="0"/>
              </a:defRPr>
            </a:lvl1pPr>
          </a:lstStyle>
          <a:p>
            <a:pPr lvl="0"/>
            <a:r>
              <a:rPr lang="en-US" noProof="0" dirty="0" err="1"/>
              <a:t>Indsæt</a:t>
            </a:r>
            <a:r>
              <a:rPr lang="en-US" noProof="0" dirty="0"/>
              <a:t> </a:t>
            </a:r>
            <a:r>
              <a:rPr lang="en-US" noProof="0" dirty="0" err="1"/>
              <a:t>citat</a:t>
            </a:r>
            <a:endParaRPr lang="en-US" noProof="0" dirty="0"/>
          </a:p>
        </p:txBody>
      </p:sp>
      <p:sp>
        <p:nvSpPr>
          <p:cNvPr id="9" name="Tekstfelt 1">
            <a:extLst>
              <a:ext uri="{FF2B5EF4-FFF2-40B4-BE49-F238E27FC236}">
                <a16:creationId xmlns:a16="http://schemas.microsoft.com/office/drawing/2014/main" id="{B2AE9EB1-B66D-C843-A502-8BFEF0D05723}"/>
              </a:ext>
            </a:extLst>
          </p:cNvPr>
          <p:cNvSpPr txBox="1"/>
          <p:nvPr userDrawn="1"/>
        </p:nvSpPr>
        <p:spPr>
          <a:xfrm>
            <a:off x="1295424" y="1220755"/>
            <a:ext cx="693021" cy="1155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666" b="1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Segoe UI Semilight" panose="020B0402040204020203" pitchFamily="34" charset="0"/>
              </a:rPr>
              <a:t>”</a:t>
            </a:r>
          </a:p>
        </p:txBody>
      </p:sp>
      <p:sp>
        <p:nvSpPr>
          <p:cNvPr id="13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4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rgbClr val="0C2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9"/>
          <p:cNvSpPr txBox="1"/>
          <p:nvPr userDrawn="1"/>
        </p:nvSpPr>
        <p:spPr>
          <a:xfrm>
            <a:off x="3503712" y="2756926"/>
            <a:ext cx="518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noProof="0" dirty="0">
                <a:solidFill>
                  <a:schemeClr val="bg1"/>
                </a:solidFill>
                <a:latin typeface="Arial" panose="020B0604020202020204" pitchFamily="34" charset="0"/>
                <a:ea typeface="Roboto Condensed Light" panose="02000000000000000000" pitchFamily="2" charset="0"/>
                <a:cs typeface="Arial" panose="020B0604020202020204" pitchFamily="34" charset="0"/>
              </a:rPr>
              <a:t>Pause</a:t>
            </a:r>
          </a:p>
        </p:txBody>
      </p:sp>
      <p:sp>
        <p:nvSpPr>
          <p:cNvPr id="8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9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5810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solidFill>
          <a:srgbClr val="0C2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 userDrawn="1"/>
        </p:nvSpPr>
        <p:spPr>
          <a:xfrm>
            <a:off x="5615947" y="1412776"/>
            <a:ext cx="3857804" cy="4089896"/>
          </a:xfrm>
          <a:prstGeom prst="rect">
            <a:avLst/>
          </a:prstGeom>
        </p:spPr>
        <p:txBody>
          <a:bodyPr vert="horz" lIns="109159" tIns="54579" rIns="109159" bIns="54579" rtlCol="0" anchor="ctr">
            <a:noAutofit/>
          </a:bodyPr>
          <a:lstStyle>
            <a:lvl1pPr algn="ctr" defTabSz="818693" rtl="0" eaLnBrk="1" latinLnBrk="0" hangingPunct="1">
              <a:spcBef>
                <a:spcPct val="0"/>
              </a:spcBef>
              <a:buNone/>
              <a:defRPr sz="3900" kern="1200">
                <a:solidFill>
                  <a:schemeClr val="bg1"/>
                </a:solidFill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defRPr>
            </a:lvl1pPr>
          </a:lstStyle>
          <a:p>
            <a:r>
              <a:rPr lang="da-DK" sz="26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Segoe UI Semilight" panose="020B0402040204020203" pitchFamily="34" charset="0"/>
              </a:rPr>
              <a:t>?</a:t>
            </a:r>
          </a:p>
        </p:txBody>
      </p:sp>
      <p:sp>
        <p:nvSpPr>
          <p:cNvPr id="8" name="Tekstfelt 7"/>
          <p:cNvSpPr txBox="1"/>
          <p:nvPr userDrawn="1"/>
        </p:nvSpPr>
        <p:spPr>
          <a:xfrm>
            <a:off x="2663589" y="2876789"/>
            <a:ext cx="518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noProof="0" dirty="0">
                <a:solidFill>
                  <a:schemeClr val="bg1"/>
                </a:solidFill>
                <a:latin typeface="+mj-lt"/>
                <a:ea typeface="Roboto Condensed Light" panose="02000000000000000000" pitchFamily="2" charset="0"/>
                <a:cs typeface="Segoe UI Semilight" panose="020B0402040204020203" pitchFamily="34" charset="0"/>
              </a:rPr>
              <a:t>Spørgsmål</a:t>
            </a:r>
          </a:p>
        </p:txBody>
      </p:sp>
      <p:sp>
        <p:nvSpPr>
          <p:cNvPr id="10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11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0003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 for i da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kstfelt 2"/>
          <p:cNvSpPr txBox="1"/>
          <p:nvPr userDrawn="1"/>
        </p:nvSpPr>
        <p:spPr>
          <a:xfrm>
            <a:off x="3695734" y="2991984"/>
            <a:ext cx="4800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noProof="0" dirty="0">
                <a:solidFill>
                  <a:schemeClr val="bg1"/>
                </a:solidFill>
                <a:latin typeface="Arial" panose="020B0604020202020204" pitchFamily="34" charset="0"/>
                <a:ea typeface="Roboto Condensed Light" panose="02000000000000000000" pitchFamily="2" charset="0"/>
                <a:cs typeface="Arial" panose="020B0604020202020204" pitchFamily="34" charset="0"/>
              </a:rPr>
              <a:t>Tak</a:t>
            </a:r>
          </a:p>
        </p:txBody>
      </p:sp>
    </p:spTree>
    <p:extLst>
      <p:ext uri="{BB962C8B-B14F-4D97-AF65-F5344CB8AC3E}">
        <p14:creationId xmlns:p14="http://schemas.microsoft.com/office/powerpoint/2010/main" val="17732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20" name="Pladsholder til tekst 3"/>
          <p:cNvSpPr>
            <a:spLocks noGrp="1"/>
          </p:cNvSpPr>
          <p:nvPr>
            <p:ph type="body" idx="1"/>
          </p:nvPr>
        </p:nvSpPr>
        <p:spPr>
          <a:xfrm>
            <a:off x="609601" y="1634990"/>
            <a:ext cx="1096672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Rediger</a:t>
            </a:r>
            <a:r>
              <a:rPr lang="en-US" noProof="0" dirty="0"/>
              <a:t> </a:t>
            </a:r>
            <a:r>
              <a:rPr lang="en-US" noProof="0" dirty="0" err="1"/>
              <a:t>typografien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masterens</a:t>
            </a:r>
            <a:endParaRPr lang="en-US" noProof="0" dirty="0"/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21" name="Rektangel 20"/>
          <p:cNvSpPr/>
          <p:nvPr userDrawn="1"/>
        </p:nvSpPr>
        <p:spPr>
          <a:xfrm>
            <a:off x="0" y="6314168"/>
            <a:ext cx="12192000" cy="548680"/>
          </a:xfrm>
          <a:prstGeom prst="rect">
            <a:avLst/>
          </a:prstGeom>
          <a:solidFill>
            <a:srgbClr val="0C2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400"/>
          </a:p>
        </p:txBody>
      </p:sp>
      <p:sp>
        <p:nvSpPr>
          <p:cNvPr id="22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23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Segoe UI Semilight" panose="020B0402040204020203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3"/>
          <p:cNvSpPr>
            <a:spLocks noGrp="1"/>
          </p:cNvSpPr>
          <p:nvPr>
            <p:ph type="body" idx="1"/>
          </p:nvPr>
        </p:nvSpPr>
        <p:spPr>
          <a:xfrm>
            <a:off x="609601" y="1634990"/>
            <a:ext cx="1096672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Rediger</a:t>
            </a:r>
            <a:r>
              <a:rPr lang="en-US" noProof="0" dirty="0"/>
              <a:t> </a:t>
            </a:r>
            <a:r>
              <a:rPr lang="en-US" noProof="0" dirty="0" err="1"/>
              <a:t>typografien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masterens</a:t>
            </a:r>
            <a:endParaRPr lang="en-US" noProof="0" dirty="0"/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9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81758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9" name="Pladsholder til tekst 3"/>
          <p:cNvSpPr>
            <a:spLocks noGrp="1"/>
          </p:cNvSpPr>
          <p:nvPr>
            <p:ph type="body" idx="1"/>
          </p:nvPr>
        </p:nvSpPr>
        <p:spPr>
          <a:xfrm>
            <a:off x="609601" y="1634990"/>
            <a:ext cx="1096672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Rediger</a:t>
            </a:r>
            <a:r>
              <a:rPr lang="en-US" noProof="0" dirty="0"/>
              <a:t> </a:t>
            </a:r>
            <a:r>
              <a:rPr lang="en-US" noProof="0" dirty="0" err="1"/>
              <a:t>typografien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masterens</a:t>
            </a:r>
            <a:endParaRPr lang="en-US" noProof="0" dirty="0"/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044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bg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bg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bg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bg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bg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6" name="Pladsholder til tekst 3"/>
          <p:cNvSpPr>
            <a:spLocks noGrp="1"/>
          </p:cNvSpPr>
          <p:nvPr>
            <p:ph type="body" idx="1"/>
          </p:nvPr>
        </p:nvSpPr>
        <p:spPr>
          <a:xfrm>
            <a:off x="609601" y="1634990"/>
            <a:ext cx="1096672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Rediger</a:t>
            </a:r>
            <a:r>
              <a:rPr lang="en-US" noProof="0" dirty="0"/>
              <a:t> </a:t>
            </a:r>
            <a:r>
              <a:rPr lang="en-US" noProof="0" dirty="0" err="1"/>
              <a:t>typografien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</a:t>
            </a:r>
            <a:r>
              <a:rPr lang="en-US" noProof="0" dirty="0" err="1"/>
              <a:t>masterens</a:t>
            </a:r>
            <a:endParaRPr lang="en-US" noProof="0" dirty="0"/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59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tx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203412"/>
          </a:xfrm>
          <a:prstGeom prst="rect">
            <a:avLst/>
          </a:prstGeom>
        </p:spPr>
        <p:txBody>
          <a:bodyPr vert="horz" lIns="81869" tIns="40934" rIns="81869" bIns="40934" rtlCol="0">
            <a:normAutofit/>
          </a:bodyPr>
          <a:lstStyle/>
          <a:p>
            <a:pPr lvl="0"/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6" name="Pladsholder til dato 14"/>
          <p:cNvSpPr>
            <a:spLocks noGrp="1"/>
          </p:cNvSpPr>
          <p:nvPr>
            <p:ph type="dt" sz="half" idx="2"/>
          </p:nvPr>
        </p:nvSpPr>
        <p:spPr>
          <a:xfrm>
            <a:off x="9733957" y="6405946"/>
            <a:ext cx="1642631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9" name="Pladsholder til slidenummer 15"/>
          <p:cNvSpPr>
            <a:spLocks noGrp="1"/>
          </p:cNvSpPr>
          <p:nvPr>
            <p:ph type="sldNum" sz="quarter" idx="4"/>
          </p:nvPr>
        </p:nvSpPr>
        <p:spPr>
          <a:xfrm>
            <a:off x="11376587" y="6409937"/>
            <a:ext cx="672075" cy="361135"/>
          </a:xfrm>
          <a:prstGeom prst="rect">
            <a:avLst/>
          </a:prstGeom>
        </p:spPr>
        <p:txBody>
          <a:bodyPr anchor="ctr" anchorCtr="0"/>
          <a:lstStyle>
            <a:lvl1pPr>
              <a:defRPr sz="80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fld id="{8E044AEF-F590-47CE-BE8F-5C241A59BA2A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12" y="6408571"/>
            <a:ext cx="1800087" cy="3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1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bg1"/>
          </a:solidFill>
          <a:latin typeface="+mj-lt"/>
          <a:ea typeface="Roboto Condensed Light" panose="02000000000000000000" pitchFamily="2" charset="0"/>
          <a:cs typeface="Segoe UI Semilight" panose="020B0402040204020203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bg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bg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bg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bg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bg1"/>
          </a:solidFill>
          <a:latin typeface="+mn-lt"/>
          <a:ea typeface="Roboto" panose="02000000000000000000" pitchFamily="2" charset="0"/>
          <a:cs typeface="Segoe UI Semilight" panose="020B0402040204020203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81869" tIns="40934" rIns="81869" bIns="40934" rtlCol="0" anchor="ctr">
            <a:normAutofit/>
          </a:bodyPr>
          <a:lstStyle/>
          <a:p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203412"/>
          </a:xfrm>
          <a:prstGeom prst="rect">
            <a:avLst/>
          </a:prstGeom>
        </p:spPr>
        <p:txBody>
          <a:bodyPr vert="horz" lIns="81869" tIns="40934" rIns="81869" bIns="40934" rtlCol="0">
            <a:normAutofit/>
          </a:bodyPr>
          <a:lstStyle/>
          <a:p>
            <a:pPr lvl="0"/>
            <a:r>
              <a:rPr lang="en-US" noProof="0" dirty="0" err="1"/>
              <a:t>Klik</a:t>
            </a:r>
            <a:r>
              <a:rPr lang="en-US" noProof="0" dirty="0"/>
              <a:t> for at </a:t>
            </a:r>
            <a:r>
              <a:rPr lang="en-US" noProof="0" dirty="0" err="1"/>
              <a:t>redigere</a:t>
            </a:r>
            <a:r>
              <a:rPr lang="en-US" noProof="0" dirty="0"/>
              <a:t> </a:t>
            </a:r>
            <a:r>
              <a:rPr lang="en-US" noProof="0" dirty="0" err="1"/>
              <a:t>i</a:t>
            </a:r>
            <a:r>
              <a:rPr lang="en-US" noProof="0" dirty="0"/>
              <a:t> master</a:t>
            </a:r>
          </a:p>
          <a:p>
            <a:pPr lvl="1"/>
            <a:r>
              <a:rPr lang="en-US" noProof="0" dirty="0" err="1"/>
              <a:t>Andet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Tredje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Fjerde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Femte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02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1563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409336" indent="-409336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1pPr>
      <a:lvl2pPr marL="886895" indent="-341114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2pPr>
      <a:lvl3pPr marL="136445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3pPr>
      <a:lvl4pPr marL="1910236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–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4pPr>
      <a:lvl5pPr marL="2456019" indent="-272891" algn="l" defTabSz="1091563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867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Arial" panose="020B0604020202020204" pitchFamily="34" charset="0"/>
        </a:defRPr>
      </a:lvl5pPr>
      <a:lvl6pPr marL="3001801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7582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93364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39145" indent="-272891" algn="l" defTabSz="109156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578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91563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7344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83128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8909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74691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2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66255" algn="l" defTabSz="109156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da-DK" sz="2400" i="1" dirty="0"/>
              <a:t>En fremtidsorienteret workshop om systemer, forstyrrelser og handlinger.</a:t>
            </a:r>
          </a:p>
          <a:p>
            <a:endParaRPr lang="da-DK" sz="2400" dirty="0"/>
          </a:p>
          <a:p>
            <a:pPr marL="1229795" lvl="1" indent="-342900">
              <a:buFont typeface="Arial" panose="020B0604020202020204" pitchFamily="34" charset="0"/>
              <a:buChar char="•"/>
            </a:pPr>
            <a:r>
              <a:rPr lang="da-DK" sz="2400" dirty="0"/>
              <a:t>Den store Vandsalamander</a:t>
            </a:r>
          </a:p>
          <a:p>
            <a:pPr marL="1229795" lvl="1" indent="-342900">
              <a:buFont typeface="Arial" panose="020B0604020202020204" pitchFamily="34" charset="0"/>
              <a:buChar char="•"/>
            </a:pPr>
            <a:r>
              <a:rPr lang="da-DK" sz="2400" dirty="0"/>
              <a:t>Spidssnudet Frø	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4400" dirty="0"/>
              <a:t>Klimakortspillet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1</a:t>
            </a:fld>
            <a:endParaRPr lang="da-DK" dirty="0"/>
          </a:p>
        </p:txBody>
      </p:sp>
      <p:pic>
        <p:nvPicPr>
          <p:cNvPr id="1026" name="Picture 2" descr="Stor Vandsalamander (Triturus cristatus)">
            <a:extLst>
              <a:ext uri="{FF2B5EF4-FFF2-40B4-BE49-F238E27FC236}">
                <a16:creationId xmlns:a16="http://schemas.microsoft.com/office/drawing/2014/main" id="{6310C796-4E51-FB95-6E44-854E797CE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93725"/>
            <a:ext cx="4811842" cy="321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idssnudet frø - Arter">
            <a:extLst>
              <a:ext uri="{FF2B5EF4-FFF2-40B4-BE49-F238E27FC236}">
                <a16:creationId xmlns:a16="http://schemas.microsoft.com/office/drawing/2014/main" id="{477270CD-1463-5E32-3D1D-D8E8AB602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3143015"/>
            <a:ext cx="4811843" cy="320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31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9A3197C-D55A-7856-B86B-7F2CEC5A3D5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CBE57A75-600A-1800-6E4D-10619983F4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Vandring mod yngledam v. mere end 10° </a:t>
            </a:r>
          </a:p>
          <a:p>
            <a:r>
              <a:rPr lang="da-DK" dirty="0"/>
              <a:t>Problematisk v. nattefrost </a:t>
            </a:r>
          </a:p>
          <a:p>
            <a:r>
              <a:rPr lang="da-DK" dirty="0"/>
              <a:t>Æglægning sker ved temperaturer over 10°</a:t>
            </a:r>
          </a:p>
          <a:p>
            <a:r>
              <a:rPr lang="da-DK" dirty="0"/>
              <a:t>For høje temperaturer og for lidt nedbør fører til udtørret vandhuller.</a:t>
            </a:r>
          </a:p>
          <a:p>
            <a:r>
              <a:rPr lang="da-DK" dirty="0"/>
              <a:t>For store regnskyl gør æglægning svær for Spidssnudet Frø der lægger sine æg i lavvandede vandsamlinger </a:t>
            </a:r>
          </a:p>
          <a:p>
            <a:r>
              <a:rPr lang="da-DK" dirty="0"/>
              <a:t>Udtørringen er afgørende hvornår haletudsernes forvandling til små frøer.</a:t>
            </a:r>
          </a:p>
          <a:p>
            <a:endParaRPr lang="da-DK" dirty="0"/>
          </a:p>
          <a:p>
            <a:r>
              <a:rPr lang="da-DK" dirty="0"/>
              <a:t>er 10°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7BAADBC-D436-5CE6-FE4D-3E93754F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Perfekte omgivelser!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E231587-444D-F3B0-AD56-F18A5DAE81E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0A21ECA-D9D9-AFEC-BCEC-617114B3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2</a:t>
            </a:fld>
            <a:endParaRPr lang="da-DK" dirty="0"/>
          </a:p>
        </p:txBody>
      </p:sp>
      <p:pic>
        <p:nvPicPr>
          <p:cNvPr id="7" name="Picture 2" descr="Stor Vandsalamander (Triturus cristatus)">
            <a:extLst>
              <a:ext uri="{FF2B5EF4-FFF2-40B4-BE49-F238E27FC236}">
                <a16:creationId xmlns:a16="http://schemas.microsoft.com/office/drawing/2014/main" id="{A0F2DF6B-4902-5694-053B-37B1E9FFD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237" y="3429000"/>
            <a:ext cx="3699739" cy="246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pidssnudet frø - Arter">
            <a:extLst>
              <a:ext uri="{FF2B5EF4-FFF2-40B4-BE49-F238E27FC236}">
                <a16:creationId xmlns:a16="http://schemas.microsoft.com/office/drawing/2014/main" id="{E7A104CA-EBE4-FCBC-DC5B-BACF2CEDB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38" y="768039"/>
            <a:ext cx="3702338" cy="246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86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F8DEA21-ED9E-3BF2-127E-2082D25F3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1" y="1566508"/>
            <a:ext cx="9637058" cy="4560000"/>
          </a:xfrm>
        </p:spPr>
        <p:txBody>
          <a:bodyPr/>
          <a:lstStyle/>
          <a:p>
            <a:r>
              <a:rPr lang="da-DK" dirty="0"/>
              <a:t>Et system er en masse ting og mennesker der hænger sammen og påvirker hinanden.</a:t>
            </a:r>
          </a:p>
          <a:p>
            <a:endParaRPr lang="da-DK" dirty="0"/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26B7BB76-140E-F35D-9D6F-4877DC5885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3542" y="2307949"/>
            <a:ext cx="5298857" cy="4096002"/>
          </a:xfrm>
        </p:spPr>
        <p:txBody>
          <a:bodyPr/>
          <a:lstStyle/>
          <a:p>
            <a:r>
              <a:rPr lang="da-DK" b="1" dirty="0"/>
              <a:t>Skov</a:t>
            </a:r>
          </a:p>
          <a:p>
            <a:endParaRPr lang="da-DK" b="1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6A0D468-2084-AA27-7117-30002EF7B6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9439A7A-757F-884E-5E6E-80186770F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4F9A46-B4DB-6C2A-E817-39AD88C6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et system?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0ABEF477-B1C3-1DBC-69E5-C0D52BEFDDD1}"/>
              </a:ext>
            </a:extLst>
          </p:cNvPr>
          <p:cNvSpPr txBox="1"/>
          <p:nvPr/>
        </p:nvSpPr>
        <p:spPr>
          <a:xfrm>
            <a:off x="609598" y="2253405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b="1" dirty="0"/>
              <a:t>Skole</a:t>
            </a:r>
          </a:p>
        </p:txBody>
      </p:sp>
      <p:pic>
        <p:nvPicPr>
          <p:cNvPr id="5124" name="Picture 4" descr="Amager Fælled | Københavns Kommune">
            <a:extLst>
              <a:ext uri="{FF2B5EF4-FFF2-40B4-BE49-F238E27FC236}">
                <a16:creationId xmlns:a16="http://schemas.microsoft.com/office/drawing/2014/main" id="{D0089706-0711-285D-7D70-C281E44FA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0" r="5947"/>
          <a:stretch/>
        </p:blipFill>
        <p:spPr bwMode="auto">
          <a:xfrm>
            <a:off x="6368569" y="2895004"/>
            <a:ext cx="5096534" cy="304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iblioteket – Niels Steensen Grundskole og Gymnasium">
            <a:extLst>
              <a:ext uri="{FF2B5EF4-FFF2-40B4-BE49-F238E27FC236}">
                <a16:creationId xmlns:a16="http://schemas.microsoft.com/office/drawing/2014/main" id="{E4257FFF-D9DA-1B9B-F027-00943F1016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39" r="5979" b="14664"/>
          <a:stretch/>
        </p:blipFill>
        <p:spPr bwMode="auto">
          <a:xfrm>
            <a:off x="704499" y="2942090"/>
            <a:ext cx="5391501" cy="304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1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billede 1">
            <a:extLst>
              <a:ext uri="{FF2B5EF4-FFF2-40B4-BE49-F238E27FC236}">
                <a16:creationId xmlns:a16="http://schemas.microsoft.com/office/drawing/2014/main" id="{55616DCF-6576-7BD2-6A18-0A73ED61A0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F8DEA21-ED9E-3BF2-127E-2082D25F3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Det </a:t>
            </a:r>
            <a:r>
              <a:rPr lang="da-DK" b="1" i="1" dirty="0"/>
              <a:t>operationelle</a:t>
            </a:r>
            <a:r>
              <a:rPr lang="da-DK" b="1" dirty="0"/>
              <a:t> miljø</a:t>
            </a:r>
            <a:r>
              <a:rPr lang="da-DK" dirty="0"/>
              <a:t> er </a:t>
            </a:r>
            <a:r>
              <a:rPr lang="da-DK" b="1" dirty="0"/>
              <a:t>alt det, der påvirker, hvad man kan gøre og hvordan man gør det i en bestemt situation</a:t>
            </a:r>
          </a:p>
          <a:p>
            <a:endParaRPr lang="da-DK" dirty="0"/>
          </a:p>
          <a:p>
            <a:r>
              <a:rPr lang="da-DK" dirty="0"/>
              <a:t>Ved et </a:t>
            </a:r>
            <a:r>
              <a:rPr lang="da-DK" b="1" dirty="0"/>
              <a:t>fodboldspil er det operationelle</a:t>
            </a:r>
            <a:r>
              <a:rPr lang="da-DK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Banen (stor/lille, grus/græs)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Vejret (regn, ekstrem varme)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Reglerne,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Dommeren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Publikum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Modstanderen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4F9A46-B4DB-6C2A-E817-39AD88C6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639"/>
            <a:ext cx="8211670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Hvad er det operationelle miljø?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6A0D468-2084-AA27-7117-30002EF7B6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9439A7A-757F-884E-5E6E-80186770F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6091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/>
              <a:t>Del 1:</a:t>
            </a:r>
          </a:p>
          <a:p>
            <a:r>
              <a:rPr lang="da-DK" b="1" dirty="0"/>
              <a:t>Opstil og forbind </a:t>
            </a:r>
            <a:r>
              <a:rPr lang="da-DK" dirty="0"/>
              <a:t>det </a:t>
            </a:r>
            <a:r>
              <a:rPr lang="da-DK" i="1" dirty="0"/>
              <a:t>operationelle system </a:t>
            </a:r>
            <a:r>
              <a:rPr lang="da-DK" dirty="0"/>
              <a:t>for Den spidssnudet frø og Den store Vandsalamander</a:t>
            </a:r>
          </a:p>
          <a:p>
            <a:endParaRPr lang="da-DK" dirty="0"/>
          </a:p>
          <a:p>
            <a:r>
              <a:rPr lang="da-DK" dirty="0"/>
              <a:t>Del 2: </a:t>
            </a:r>
          </a:p>
          <a:p>
            <a:r>
              <a:rPr lang="da-DK" dirty="0"/>
              <a:t>Træk et joker kort og diskuter </a:t>
            </a:r>
            <a:r>
              <a:rPr lang="da-DK" b="1" dirty="0"/>
              <a:t>hvordan </a:t>
            </a:r>
            <a:r>
              <a:rPr lang="da-DK" i="1" dirty="0"/>
              <a:t>systemet</a:t>
            </a:r>
            <a:r>
              <a:rPr lang="da-DK" b="1" dirty="0"/>
              <a:t> påvirkes af forstyrrelsen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3200" dirty="0"/>
              <a:t>Hvordan er systemet forbundet og påvirkes af forstyrrelser?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5</a:t>
            </a:fld>
            <a:endParaRPr lang="da-DK" dirty="0"/>
          </a:p>
        </p:txBody>
      </p:sp>
      <p:pic>
        <p:nvPicPr>
          <p:cNvPr id="7" name="Picture 2" descr="Minimalist line art woman thinking with idea light bulb and question marks  problem solving concept | Premium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558" y="1500188"/>
            <a:ext cx="4819649" cy="481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AFEA9980-271F-7423-FCE3-8092760D5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43829">
            <a:off x="6285671" y="1618117"/>
            <a:ext cx="2103726" cy="1063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A566948-2BD1-C5EA-120B-50415A75E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78144">
            <a:off x="7580076" y="791991"/>
            <a:ext cx="2039573" cy="1071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B6BA6651-9968-1B0F-9A5D-22C57BD9F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041300">
            <a:off x="6407716" y="320650"/>
            <a:ext cx="2023129" cy="1022600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73CFF2CE-E3C1-3726-2986-4FA59879F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042145">
            <a:off x="2342104" y="4819053"/>
            <a:ext cx="2237392" cy="1177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3EC7BD55-02D9-44AB-7867-1995955DBD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56688">
            <a:off x="4271272" y="4225708"/>
            <a:ext cx="2131020" cy="1125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Billede 18">
            <a:extLst>
              <a:ext uri="{FF2B5EF4-FFF2-40B4-BE49-F238E27FC236}">
                <a16:creationId xmlns:a16="http://schemas.microsoft.com/office/drawing/2014/main" id="{8B45752E-67A6-3F2C-4FA8-3CA897FEA1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388263">
            <a:off x="4371981" y="5490707"/>
            <a:ext cx="2140189" cy="11308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840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2"/>
          </p:nvPr>
        </p:nvSpPr>
        <p:spPr>
          <a:xfrm>
            <a:off x="609601" y="2016177"/>
            <a:ext cx="6038824" cy="4057396"/>
          </a:xfrm>
        </p:spPr>
        <p:txBody>
          <a:bodyPr/>
          <a:lstStyle/>
          <a:p>
            <a:r>
              <a:rPr lang="da-DK" b="1" dirty="0"/>
              <a:t>DEL 1: </a:t>
            </a:r>
            <a:r>
              <a:rPr lang="da-DK" b="1" i="1" dirty="0"/>
              <a:t>Det operationelle system</a:t>
            </a:r>
            <a:r>
              <a:rPr lang="da-DK" b="1" dirty="0"/>
              <a:t>:</a:t>
            </a:r>
          </a:p>
          <a:p>
            <a:r>
              <a:rPr lang="da-DK" dirty="0"/>
              <a:t>Identificer de vigtigst dele i systemet</a:t>
            </a:r>
          </a:p>
          <a:p>
            <a:endParaRPr lang="da-DK" dirty="0"/>
          </a:p>
          <a:p>
            <a:pPr marL="342900" indent="-342900">
              <a:buFontTx/>
              <a:buChar char="-"/>
            </a:pPr>
            <a:r>
              <a:rPr lang="da-DK" dirty="0"/>
              <a:t>Vælg 1 kort hver og forklar hvorfor</a:t>
            </a:r>
          </a:p>
          <a:p>
            <a:pPr marL="342900" indent="-342900">
              <a:buFontTx/>
              <a:buChar char="-"/>
            </a:pPr>
            <a:r>
              <a:rPr lang="da-DK" dirty="0"/>
              <a:t>Forbind kortet (tegn) med omgivelserne</a:t>
            </a:r>
          </a:p>
          <a:p>
            <a:endParaRPr lang="da-DK" dirty="0"/>
          </a:p>
          <a:p>
            <a:pPr marL="342900" indent="-342900">
              <a:buFontTx/>
              <a:buChar char="-"/>
            </a:pPr>
            <a:r>
              <a:rPr lang="da-DK" dirty="0"/>
              <a:t>Vælg endnu et kort. Gentag</a:t>
            </a:r>
          </a:p>
          <a:p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4000" dirty="0"/>
              <a:t>Klimakortspillet - Reglerne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6</a:t>
            </a:fld>
            <a:endParaRPr lang="da-DK" dirty="0"/>
          </a:p>
        </p:txBody>
      </p:sp>
      <p:pic>
        <p:nvPicPr>
          <p:cNvPr id="1026" name="Picture 2" descr="Stor Vandsalamander (Triturus cristatus)">
            <a:extLst>
              <a:ext uri="{FF2B5EF4-FFF2-40B4-BE49-F238E27FC236}">
                <a16:creationId xmlns:a16="http://schemas.microsoft.com/office/drawing/2014/main" id="{6310C796-4E51-FB95-6E44-854E797CE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93725"/>
            <a:ext cx="4811842" cy="321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idssnudet frø - Arter">
            <a:extLst>
              <a:ext uri="{FF2B5EF4-FFF2-40B4-BE49-F238E27FC236}">
                <a16:creationId xmlns:a16="http://schemas.microsoft.com/office/drawing/2014/main" id="{477270CD-1463-5E32-3D1D-D8E8AB602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3143015"/>
            <a:ext cx="4811843" cy="320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60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2"/>
          </p:nvPr>
        </p:nvSpPr>
        <p:spPr>
          <a:xfrm>
            <a:off x="609601" y="1721371"/>
            <a:ext cx="6038824" cy="4352202"/>
          </a:xfrm>
        </p:spPr>
        <p:txBody>
          <a:bodyPr/>
          <a:lstStyle/>
          <a:p>
            <a:r>
              <a:rPr lang="da-DK" b="1" dirty="0"/>
              <a:t>DEL 2: </a:t>
            </a:r>
            <a:r>
              <a:rPr lang="da-DK" b="1" i="1" dirty="0"/>
              <a:t>Overraskelser og forstyrrelser</a:t>
            </a:r>
            <a:endParaRPr lang="da-DK" b="1" dirty="0"/>
          </a:p>
          <a:p>
            <a:r>
              <a:rPr lang="da-DK" dirty="0"/>
              <a:t>Hvordan påvirkes systemet af forstyrrelser</a:t>
            </a:r>
          </a:p>
          <a:p>
            <a:endParaRPr lang="da-DK" dirty="0"/>
          </a:p>
          <a:p>
            <a:pPr marL="342900" indent="-342900">
              <a:buFontTx/>
              <a:buChar char="-"/>
            </a:pPr>
            <a:r>
              <a:rPr lang="da-DK" dirty="0"/>
              <a:t>Træk ét joker kort – en forstyrrelse </a:t>
            </a:r>
          </a:p>
          <a:p>
            <a:pPr marL="342900" indent="-342900">
              <a:buFontTx/>
              <a:buChar char="-"/>
            </a:pPr>
            <a:r>
              <a:rPr lang="da-DK" dirty="0"/>
              <a:t>Forklar hvordan du tror at dit første og andet kort påvirkes af forstyrrelsen</a:t>
            </a:r>
          </a:p>
          <a:p>
            <a:pPr marL="342900" indent="-342900">
              <a:buFontTx/>
              <a:buChar char="-"/>
            </a:pPr>
            <a:r>
              <a:rPr lang="da-DK" dirty="0"/>
              <a:t>Diskuter i gruppen hvordan Den spidssnudet frø og Den store Vandsalamander påvirkes af forstyrrelsen </a:t>
            </a:r>
          </a:p>
          <a:p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4000" dirty="0"/>
              <a:t>Klimakortspillet – Reglerne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094E77-980B-4C1F-8178-AD8CF5CFAF4B}" type="datetime1">
              <a:rPr lang="en-US" smtClean="0"/>
              <a:pPr/>
              <a:t>7/7/2026</a:t>
            </a:fld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44AEF-F590-47CE-BE8F-5C241A59BA2A}" type="slidenum">
              <a:rPr lang="da-DK" smtClean="0"/>
              <a:pPr/>
              <a:t>7</a:t>
            </a:fld>
            <a:endParaRPr lang="da-DK" dirty="0"/>
          </a:p>
        </p:txBody>
      </p:sp>
      <p:pic>
        <p:nvPicPr>
          <p:cNvPr id="1026" name="Picture 2" descr="Stor Vandsalamander (Triturus cristatus)">
            <a:extLst>
              <a:ext uri="{FF2B5EF4-FFF2-40B4-BE49-F238E27FC236}">
                <a16:creationId xmlns:a16="http://schemas.microsoft.com/office/drawing/2014/main" id="{6310C796-4E51-FB95-6E44-854E797CE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93725"/>
            <a:ext cx="4811842" cy="321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idssnudet frø - Arter">
            <a:extLst>
              <a:ext uri="{FF2B5EF4-FFF2-40B4-BE49-F238E27FC236}">
                <a16:creationId xmlns:a16="http://schemas.microsoft.com/office/drawing/2014/main" id="{477270CD-1463-5E32-3D1D-D8E8AB602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82" y="3143015"/>
            <a:ext cx="4811843" cy="320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73A43952-4A44-47AE-CB16-B163F2400155}"/>
              </a:ext>
            </a:extLst>
          </p:cNvPr>
          <p:cNvSpPr txBox="1">
            <a:spLocks/>
          </p:cNvSpPr>
          <p:nvPr/>
        </p:nvSpPr>
        <p:spPr>
          <a:xfrm>
            <a:off x="3470347" y="2578308"/>
            <a:ext cx="2940448" cy="4352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91563" rtl="0" eaLnBrk="1" latinLnBrk="0" hangingPunct="1">
              <a:spcBef>
                <a:spcPct val="2000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  <a:defRPr sz="1867" kern="1200" baseline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886895" indent="-341114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364454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910236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456019" indent="-272891" algn="l" defTabSz="1091563" rtl="0" eaLnBrk="1" latinLnBrk="0" hangingPunct="1">
              <a:spcBef>
                <a:spcPct val="20000"/>
              </a:spcBef>
              <a:buFont typeface="Courier New" panose="02070309020205020404" pitchFamily="49" charset="0"/>
              <a:buChar char="o"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001801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7582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93364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39145" indent="-272891" algn="l" defTabSz="109156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067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xt">
  <a:themeElements>
    <a:clrScheme name="EFKM">
      <a:dk1>
        <a:srgbClr val="000000"/>
      </a:dk1>
      <a:lt1>
        <a:sysClr val="window" lastClr="FFFFFF"/>
      </a:lt1>
      <a:dk2>
        <a:srgbClr val="1F497D"/>
      </a:dk2>
      <a:lt2>
        <a:srgbClr val="1DE2CD"/>
      </a:lt2>
      <a:accent1>
        <a:srgbClr val="0097A7"/>
      </a:accent1>
      <a:accent2>
        <a:srgbClr val="045C65"/>
      </a:accent2>
      <a:accent3>
        <a:srgbClr val="FF5252"/>
      </a:accent3>
      <a:accent4>
        <a:srgbClr val="673AB7"/>
      </a:accent4>
      <a:accent5>
        <a:srgbClr val="0C2D83"/>
      </a:accent5>
      <a:accent6>
        <a:srgbClr val="0091EA"/>
      </a:accent6>
      <a:hlink>
        <a:srgbClr val="0000FF"/>
      </a:hlink>
      <a:folHlink>
        <a:srgbClr val="80008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70A150AA-C758-4DE2-B117-47CEA6DBD2F9}"/>
    </a:ext>
  </a:extLst>
</a:theme>
</file>

<file path=ppt/theme/theme2.xml><?xml version="1.0" encoding="utf-8"?>
<a:theme xmlns:a="http://schemas.openxmlformats.org/drawingml/2006/main" name="Pictures and tables">
  <a:themeElements>
    <a:clrScheme name="ENS brand colors">
      <a:dk1>
        <a:srgbClr val="000000"/>
      </a:dk1>
      <a:lt1>
        <a:sysClr val="window" lastClr="FFFFFF"/>
      </a:lt1>
      <a:dk2>
        <a:srgbClr val="0097A7"/>
      </a:dk2>
      <a:lt2>
        <a:srgbClr val="F3F3EF"/>
      </a:lt2>
      <a:accent1>
        <a:srgbClr val="0097A7"/>
      </a:accent1>
      <a:accent2>
        <a:srgbClr val="0F7883"/>
      </a:accent2>
      <a:accent3>
        <a:srgbClr val="1E6791"/>
      </a:accent3>
      <a:accent4>
        <a:srgbClr val="0C2D83"/>
      </a:accent4>
      <a:accent5>
        <a:srgbClr val="EC4B62"/>
      </a:accent5>
      <a:accent6>
        <a:srgbClr val="A31E22"/>
      </a:accent6>
      <a:hlink>
        <a:srgbClr val="FDDD3A"/>
      </a:hlink>
      <a:folHlink>
        <a:srgbClr val="E6BA2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820170FB-1BC0-434F-A3EC-2459F2FC9629}"/>
    </a:ext>
  </a:extLst>
</a:theme>
</file>

<file path=ppt/theme/theme3.xml><?xml version="1.0" encoding="utf-8"?>
<a:theme xmlns:a="http://schemas.openxmlformats.org/drawingml/2006/main" name="Fact boxes">
  <a:themeElements>
    <a:clrScheme name="EFKM">
      <a:dk1>
        <a:srgbClr val="000000"/>
      </a:dk1>
      <a:lt1>
        <a:sysClr val="window" lastClr="FFFFFF"/>
      </a:lt1>
      <a:dk2>
        <a:srgbClr val="1F497D"/>
      </a:dk2>
      <a:lt2>
        <a:srgbClr val="1DE2CD"/>
      </a:lt2>
      <a:accent1>
        <a:srgbClr val="0097A7"/>
      </a:accent1>
      <a:accent2>
        <a:srgbClr val="045C65"/>
      </a:accent2>
      <a:accent3>
        <a:srgbClr val="FF5252"/>
      </a:accent3>
      <a:accent4>
        <a:srgbClr val="673AB7"/>
      </a:accent4>
      <a:accent5>
        <a:srgbClr val="0C2D83"/>
      </a:accent5>
      <a:accent6>
        <a:srgbClr val="0091EA"/>
      </a:accent6>
      <a:hlink>
        <a:srgbClr val="0000FF"/>
      </a:hlink>
      <a:folHlink>
        <a:srgbClr val="80008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5538086F-6462-4202-B075-5A5A5A880ECF}"/>
    </a:ext>
  </a:extLst>
</a:theme>
</file>

<file path=ppt/theme/theme4.xml><?xml version="1.0" encoding="utf-8"?>
<a:theme xmlns:a="http://schemas.openxmlformats.org/drawingml/2006/main" name="Fact circles">
  <a:themeElements>
    <a:clrScheme name="EFKM">
      <a:dk1>
        <a:srgbClr val="000000"/>
      </a:dk1>
      <a:lt1>
        <a:sysClr val="window" lastClr="FFFFFF"/>
      </a:lt1>
      <a:dk2>
        <a:srgbClr val="1F497D"/>
      </a:dk2>
      <a:lt2>
        <a:srgbClr val="1DE2CD"/>
      </a:lt2>
      <a:accent1>
        <a:srgbClr val="0097A7"/>
      </a:accent1>
      <a:accent2>
        <a:srgbClr val="045C65"/>
      </a:accent2>
      <a:accent3>
        <a:srgbClr val="FF5252"/>
      </a:accent3>
      <a:accent4>
        <a:srgbClr val="673AB7"/>
      </a:accent4>
      <a:accent5>
        <a:srgbClr val="0C2D83"/>
      </a:accent5>
      <a:accent6>
        <a:srgbClr val="0091EA"/>
      </a:accent6>
      <a:hlink>
        <a:srgbClr val="0000FF"/>
      </a:hlink>
      <a:folHlink>
        <a:srgbClr val="80008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7CEA795C-62D1-4AA6-BA78-7449E4182301}"/>
    </a:ext>
  </a:extLst>
</a:theme>
</file>

<file path=ppt/theme/theme5.xml><?xml version="1.0" encoding="utf-8"?>
<a:theme xmlns:a="http://schemas.openxmlformats.org/drawingml/2006/main" name="Breaker, quote, break and questions">
  <a:themeElements>
    <a:clrScheme name="EFKM">
      <a:dk1>
        <a:srgbClr val="000000"/>
      </a:dk1>
      <a:lt1>
        <a:sysClr val="window" lastClr="FFFFFF"/>
      </a:lt1>
      <a:dk2>
        <a:srgbClr val="1F497D"/>
      </a:dk2>
      <a:lt2>
        <a:srgbClr val="1DE2CD"/>
      </a:lt2>
      <a:accent1>
        <a:srgbClr val="0097A7"/>
      </a:accent1>
      <a:accent2>
        <a:srgbClr val="045C65"/>
      </a:accent2>
      <a:accent3>
        <a:srgbClr val="FF5252"/>
      </a:accent3>
      <a:accent4>
        <a:srgbClr val="673AB7"/>
      </a:accent4>
      <a:accent5>
        <a:srgbClr val="0C2D83"/>
      </a:accent5>
      <a:accent6>
        <a:srgbClr val="0091EA"/>
      </a:accent6>
      <a:hlink>
        <a:srgbClr val="0000FF"/>
      </a:hlink>
      <a:folHlink>
        <a:srgbClr val="80008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C9970478-6E92-487C-9871-E12BA6C579A2}"/>
    </a:ext>
  </a:extLst>
</a:theme>
</file>

<file path=ppt/theme/theme6.xml><?xml version="1.0" encoding="utf-8"?>
<a:theme xmlns:a="http://schemas.openxmlformats.org/drawingml/2006/main" name="DMI Layout">
  <a:themeElements>
    <a:clrScheme name="EFKM">
      <a:dk1>
        <a:srgbClr val="000000"/>
      </a:dk1>
      <a:lt1>
        <a:sysClr val="window" lastClr="FFFFFF"/>
      </a:lt1>
      <a:dk2>
        <a:srgbClr val="1F497D"/>
      </a:dk2>
      <a:lt2>
        <a:srgbClr val="1DE2CD"/>
      </a:lt2>
      <a:accent1>
        <a:srgbClr val="0097A7"/>
      </a:accent1>
      <a:accent2>
        <a:srgbClr val="045C65"/>
      </a:accent2>
      <a:accent3>
        <a:srgbClr val="FF5252"/>
      </a:accent3>
      <a:accent4>
        <a:srgbClr val="673AB7"/>
      </a:accent4>
      <a:accent5>
        <a:srgbClr val="0C2D83"/>
      </a:accent5>
      <a:accent6>
        <a:srgbClr val="0091EA"/>
      </a:accent6>
      <a:hlink>
        <a:srgbClr val="0000FF"/>
      </a:hlink>
      <a:folHlink>
        <a:srgbClr val="800080"/>
      </a:folHlink>
    </a:clrScheme>
    <a:fontScheme name="EFK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MI PPT Master 2024.pptx [Skrivebeskyttet]" id="{8FD75D23-3EAA-4ACE-9192-D3A08E6A32E2}" vid="{13937FD9-E66D-4A7D-B488-E83B5F73C66F}"/>
    </a:ext>
  </a:extLst>
</a:theme>
</file>

<file path=ppt/theme/theme7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DMI_Skabelon</Template>
  <TotalTime>3148</TotalTime>
  <Words>411</Words>
  <Application>Microsoft Office PowerPoint</Application>
  <PresentationFormat>Widescreen</PresentationFormat>
  <Paragraphs>77</Paragraphs>
  <Slides>7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6</vt:i4>
      </vt:variant>
      <vt:variant>
        <vt:lpstr>Slidetitler</vt:lpstr>
      </vt:variant>
      <vt:variant>
        <vt:i4>7</vt:i4>
      </vt:variant>
    </vt:vector>
  </HeadingPairs>
  <TitlesOfParts>
    <vt:vector size="20" baseType="lpstr">
      <vt:lpstr>Arial</vt:lpstr>
      <vt:lpstr>Calibri</vt:lpstr>
      <vt:lpstr>Courier New</vt:lpstr>
      <vt:lpstr>Roboto</vt:lpstr>
      <vt:lpstr>Roboto Condensed</vt:lpstr>
      <vt:lpstr>Roboto Condensed Light</vt:lpstr>
      <vt:lpstr>Wingdings</vt:lpstr>
      <vt:lpstr>Text</vt:lpstr>
      <vt:lpstr>Pictures and tables</vt:lpstr>
      <vt:lpstr>Fact boxes</vt:lpstr>
      <vt:lpstr>Fact circles</vt:lpstr>
      <vt:lpstr>Breaker, quote, break and questions</vt:lpstr>
      <vt:lpstr>DMI Layout</vt:lpstr>
      <vt:lpstr>Klimakortspillet</vt:lpstr>
      <vt:lpstr>Perfekte omgivelser!</vt:lpstr>
      <vt:lpstr>Hvad er et system?</vt:lpstr>
      <vt:lpstr>Hvad er det operationelle miljø?</vt:lpstr>
      <vt:lpstr>Hvordan er systemet forbundet og påvirkes af forstyrrelser?</vt:lpstr>
      <vt:lpstr>Klimakortspillet - Reglerne</vt:lpstr>
      <vt:lpstr>Klimakortspillet – Reglerne 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Anette Ester Dissing</dc:creator>
  <cp:lastModifiedBy>Anette Ester Dissing</cp:lastModifiedBy>
  <cp:revision>40</cp:revision>
  <dcterms:created xsi:type="dcterms:W3CDTF">2025-09-26T11:08:31Z</dcterms:created>
  <dcterms:modified xsi:type="dcterms:W3CDTF">2026-07-07T08:18:26Z</dcterms:modified>
</cp:coreProperties>
</file>